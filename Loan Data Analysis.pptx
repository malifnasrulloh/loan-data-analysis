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DM Sans" charset="1" panose="00000000000000000000"/>
      <p:regular r:id="rId22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946" y="441529"/>
            <a:ext cx="6309744" cy="2231683"/>
            <a:chOff x="0" y="0"/>
            <a:chExt cx="8412992" cy="29755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10010"/>
              <a:ext cx="1639075" cy="2555557"/>
            </a:xfrm>
            <a:custGeom>
              <a:avLst/>
              <a:gdLst/>
              <a:ahLst/>
              <a:cxnLst/>
              <a:rect r="r" b="b" t="t" l="l"/>
              <a:pathLst>
                <a:path h="2555557" w="1639075">
                  <a:moveTo>
                    <a:pt x="0" y="0"/>
                  </a:moveTo>
                  <a:lnTo>
                    <a:pt x="1639075" y="0"/>
                  </a:lnTo>
                  <a:lnTo>
                    <a:pt x="1639075" y="2555557"/>
                  </a:lnTo>
                  <a:lnTo>
                    <a:pt x="0" y="2555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4867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39075" y="0"/>
              <a:ext cx="6773917" cy="2975577"/>
            </a:xfrm>
            <a:custGeom>
              <a:avLst/>
              <a:gdLst/>
              <a:ahLst/>
              <a:cxnLst/>
              <a:rect r="r" b="b" t="t" l="l"/>
              <a:pathLst>
                <a:path h="2975577" w="6773917">
                  <a:moveTo>
                    <a:pt x="0" y="0"/>
                  </a:moveTo>
                  <a:lnTo>
                    <a:pt x="6773917" y="0"/>
                  </a:lnTo>
                  <a:lnTo>
                    <a:pt x="6773917" y="2975577"/>
                  </a:lnTo>
                  <a:lnTo>
                    <a:pt x="0" y="2975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668932" y="665077"/>
            <a:ext cx="4821258" cy="1784585"/>
          </a:xfrm>
          <a:custGeom>
            <a:avLst/>
            <a:gdLst/>
            <a:ahLst/>
            <a:cxnLst/>
            <a:rect r="r" b="b" t="t" l="l"/>
            <a:pathLst>
              <a:path h="1784585" w="4821258">
                <a:moveTo>
                  <a:pt x="0" y="0"/>
                </a:moveTo>
                <a:lnTo>
                  <a:pt x="4821259" y="0"/>
                </a:lnTo>
                <a:lnTo>
                  <a:pt x="4821259" y="1784586"/>
                </a:lnTo>
                <a:lnTo>
                  <a:pt x="0" y="1784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2692" y="5386830"/>
            <a:ext cx="10588604" cy="350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0"/>
              </a:lnSpc>
            </a:pPr>
            <a:r>
              <a:rPr lang="en-US" sz="122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Loan Data</a:t>
            </a:r>
          </a:p>
          <a:p>
            <a:pPr algn="l">
              <a:lnSpc>
                <a:spcPts val="13120"/>
              </a:lnSpc>
            </a:pPr>
            <a:r>
              <a:rPr lang="en-US" sz="122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05521" y="0"/>
            <a:ext cx="10082479" cy="10287000"/>
            <a:chOff x="0" y="0"/>
            <a:chExt cx="265546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546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55468">
                  <a:moveTo>
                    <a:pt x="0" y="0"/>
                  </a:moveTo>
                  <a:lnTo>
                    <a:pt x="2655468" y="0"/>
                  </a:lnTo>
                  <a:lnTo>
                    <a:pt x="265546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55468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8205521" y="0"/>
            <a:ext cx="210955" cy="10287000"/>
            <a:chOff x="0" y="0"/>
            <a:chExt cx="5556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5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560">
                  <a:moveTo>
                    <a:pt x="0" y="0"/>
                  </a:moveTo>
                  <a:lnTo>
                    <a:pt x="55560" y="0"/>
                  </a:lnTo>
                  <a:lnTo>
                    <a:pt x="5556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56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16475" y="3456640"/>
            <a:ext cx="10191140" cy="7118014"/>
            <a:chOff x="0" y="0"/>
            <a:chExt cx="2684086" cy="1874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4086" cy="1874703"/>
            </a:xfrm>
            <a:custGeom>
              <a:avLst/>
              <a:gdLst/>
              <a:ahLst/>
              <a:cxnLst/>
              <a:rect r="r" b="b" t="t" l="l"/>
              <a:pathLst>
                <a:path h="1874703" w="2684086">
                  <a:moveTo>
                    <a:pt x="0" y="0"/>
                  </a:moveTo>
                  <a:lnTo>
                    <a:pt x="2684086" y="0"/>
                  </a:lnTo>
                  <a:lnTo>
                    <a:pt x="2684086" y="1874703"/>
                  </a:lnTo>
                  <a:lnTo>
                    <a:pt x="0" y="1874703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684086" cy="187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2497" y="6741894"/>
            <a:ext cx="8591503" cy="219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1"/>
              </a:lnSpc>
            </a:pPr>
            <a:r>
              <a:rPr lang="en-US" sz="677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Understanding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158695"/>
            <a:ext cx="785835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Membangun insight dan model prediksi risiko kredit untuk mendukung keputusan persetujuan pinjaman dan manajemen portofolio investasi.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985895"/>
            <a:ext cx="7858353" cy="638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Secara spesifik, proyek ini bertujuan untuk: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Mengidentifikasi faktor-faktor risiko kredit berdasarkan data historis pinjaman yang diterima dan ditolak.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Membangun model prediktif risiko kredit untuk memperkirakan kemungkinan gagal bayar sejak tahap aplikasi.</a:t>
            </a:r>
          </a:p>
          <a:p>
            <a:pPr algn="just" marL="561344" indent="-280672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Mendukung tim risiko dan keuangan dalam pengambilan keputusan berbasis data: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Menentukan kriteria persetujuan pinjaman yang optimal.</a:t>
            </a:r>
          </a:p>
          <a:p>
            <a:pPr algn="just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F0F0F"/>
                </a:solidFill>
                <a:latin typeface="DM Sans"/>
                <a:ea typeface="DM Sans"/>
                <a:cs typeface="DM Sans"/>
                <a:sym typeface="DM Sans"/>
              </a:rPr>
              <a:t>Menyusun strategi mitigasi risiko yang proaktif.</a:t>
            </a:r>
          </a:p>
          <a:p>
            <a:pPr algn="just">
              <a:lnSpc>
                <a:spcPts val="364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303616" y="573645"/>
            <a:ext cx="7003396" cy="910109"/>
            <a:chOff x="0" y="0"/>
            <a:chExt cx="9337861" cy="1213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46351" y="0"/>
            <a:ext cx="6941649" cy="10287000"/>
            <a:chOff x="0" y="0"/>
            <a:chExt cx="9255532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013" t="0" r="5013" b="0"/>
            <a:stretch>
              <a:fillRect/>
            </a:stretch>
          </p:blipFill>
          <p:spPr>
            <a:xfrm flipH="true" flipV="false">
              <a:off x="0" y="0"/>
              <a:ext cx="9255532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10800000">
            <a:off x="17823561" y="0"/>
            <a:ext cx="979210" cy="10287000"/>
            <a:chOff x="0" y="0"/>
            <a:chExt cx="257899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8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7899">
                  <a:moveTo>
                    <a:pt x="0" y="0"/>
                  </a:moveTo>
                  <a:lnTo>
                    <a:pt x="257899" y="0"/>
                  </a:lnTo>
                  <a:lnTo>
                    <a:pt x="25789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5789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346351" y="3809789"/>
            <a:ext cx="6477211" cy="6477211"/>
          </a:xfrm>
          <a:custGeom>
            <a:avLst/>
            <a:gdLst/>
            <a:ahLst/>
            <a:cxnLst/>
            <a:rect r="r" b="b" t="t" l="l"/>
            <a:pathLst>
              <a:path h="6477211" w="6477211">
                <a:moveTo>
                  <a:pt x="0" y="0"/>
                </a:moveTo>
                <a:lnTo>
                  <a:pt x="6477210" y="0"/>
                </a:lnTo>
                <a:lnTo>
                  <a:pt x="6477210" y="6477211"/>
                </a:lnTo>
                <a:lnTo>
                  <a:pt x="0" y="6477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2692" y="2310203"/>
            <a:ext cx="9471486" cy="242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2692" y="5124450"/>
            <a:ext cx="8482894" cy="152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b="true" sz="2951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200K loan data records, 75+ feature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b="true" sz="2951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Fokus: Risk Profiling &amp; Predictive Modeling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b="true" sz="2951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 Insights &amp; ML Model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316576" y="9258300"/>
            <a:ext cx="11662927" cy="1316354"/>
            <a:chOff x="0" y="0"/>
            <a:chExt cx="3071717" cy="3466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71717" cy="346694"/>
            </a:xfrm>
            <a:custGeom>
              <a:avLst/>
              <a:gdLst/>
              <a:ahLst/>
              <a:cxnLst/>
              <a:rect r="r" b="b" t="t" l="l"/>
              <a:pathLst>
                <a:path h="346694" w="3071717">
                  <a:moveTo>
                    <a:pt x="0" y="0"/>
                  </a:moveTo>
                  <a:lnTo>
                    <a:pt x="3071717" y="0"/>
                  </a:lnTo>
                  <a:lnTo>
                    <a:pt x="3071717" y="346694"/>
                  </a:lnTo>
                  <a:lnTo>
                    <a:pt x="0" y="346694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071717" cy="346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7804" y="9258300"/>
            <a:ext cx="7003396" cy="910109"/>
            <a:chOff x="0" y="0"/>
            <a:chExt cx="9337861" cy="12134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4867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668990" cy="10287000"/>
            <a:chOff x="0" y="0"/>
            <a:chExt cx="149306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06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93067">
                  <a:moveTo>
                    <a:pt x="0" y="0"/>
                  </a:moveTo>
                  <a:lnTo>
                    <a:pt x="1493067" y="0"/>
                  </a:lnTo>
                  <a:lnTo>
                    <a:pt x="14930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93067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5530962" y="0"/>
            <a:ext cx="276056" cy="10287000"/>
            <a:chOff x="0" y="0"/>
            <a:chExt cx="72706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7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72706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21865" y="2784546"/>
            <a:ext cx="6922997" cy="553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5"/>
              </a:lnSpc>
            </a:pPr>
            <a:r>
              <a:rPr lang="en-US" sz="10635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Process</a:t>
            </a:r>
          </a:p>
          <a:p>
            <a:pPr algn="l">
              <a:lnSpc>
                <a:spcPts val="1063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252100" y="1419282"/>
            <a:ext cx="11007200" cy="836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Menghapus Kolom Null ❌</a:t>
            </a:r>
          </a:p>
          <a:p>
            <a:pPr algn="just" marL="1295387" indent="-431796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Menghapus kolom atau baris yang memiliki nilai null agar dataset lebih bersih dan tidak mengganggu analisis.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Standardisasi Tipe Data 🔄</a:t>
            </a:r>
          </a:p>
          <a:p>
            <a:pPr algn="just" marL="1295387" indent="-431796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Menyesuaikan tipe data agar konsisten, seperti memastikan angka disimpan sebagai integer atau float, dan tanggal sebagai format datetime.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Handling Missing Values 💔➡️✅</a:t>
            </a:r>
          </a:p>
          <a:p>
            <a:pPr algn="just" marL="1295387" indent="-431796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Menangani nilai yang hilang dengan berbagai metode seperti pengisian dengan rata-rata, median, atau modus, atau dengan menghapus data yang hilang.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Validasi Kategori ✅</a:t>
            </a:r>
          </a:p>
          <a:p>
            <a:pPr algn="just" marL="1295387" indent="-431796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Memastikan kategori dalam dataset sesuai dan konsisten, misalnya dengan memeriksa apakah ada kategori yang tidak valid atau tidak terdaftar.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807018" y="118591"/>
            <a:ext cx="7003396" cy="910109"/>
            <a:chOff x="0" y="0"/>
            <a:chExt cx="9337861" cy="1213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493371" y="480060"/>
            <a:ext cx="11568776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Loan Status Distribution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107094" y="1911643"/>
            <a:ext cx="10341307" cy="8428697"/>
          </a:xfrm>
          <a:custGeom>
            <a:avLst/>
            <a:gdLst/>
            <a:ahLst/>
            <a:cxnLst/>
            <a:rect r="r" b="b" t="t" l="l"/>
            <a:pathLst>
              <a:path h="8428697" w="10341307">
                <a:moveTo>
                  <a:pt x="0" y="0"/>
                </a:moveTo>
                <a:lnTo>
                  <a:pt x="10341307" y="0"/>
                </a:lnTo>
                <a:lnTo>
                  <a:pt x="10341307" y="8428697"/>
                </a:lnTo>
                <a:lnTo>
                  <a:pt x="0" y="8428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67" r="0" b="-6424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175131"/>
            <a:ext cx="18288000" cy="6684741"/>
          </a:xfrm>
          <a:custGeom>
            <a:avLst/>
            <a:gdLst/>
            <a:ahLst/>
            <a:cxnLst/>
            <a:rect r="r" b="b" t="t" l="l"/>
            <a:pathLst>
              <a:path h="6684741" w="18288000">
                <a:moveTo>
                  <a:pt x="0" y="0"/>
                </a:moveTo>
                <a:lnTo>
                  <a:pt x="18288000" y="0"/>
                </a:lnTo>
                <a:lnTo>
                  <a:pt x="18288000" y="6684741"/>
                </a:lnTo>
                <a:lnTo>
                  <a:pt x="0" y="6684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489" r="-789" b="-462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3371" y="480060"/>
            <a:ext cx="11568776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Installment Analysis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1790843"/>
            <a:ext cx="18288000" cy="6954195"/>
          </a:xfrm>
          <a:custGeom>
            <a:avLst/>
            <a:gdLst/>
            <a:ahLst/>
            <a:cxnLst/>
            <a:rect r="r" b="b" t="t" l="l"/>
            <a:pathLst>
              <a:path h="6954195" w="18288000">
                <a:moveTo>
                  <a:pt x="0" y="0"/>
                </a:moveTo>
                <a:lnTo>
                  <a:pt x="18288000" y="0"/>
                </a:lnTo>
                <a:lnTo>
                  <a:pt x="18288000" y="6954195"/>
                </a:lnTo>
                <a:lnTo>
                  <a:pt x="0" y="6954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156" r="0" b="-516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3371" y="480060"/>
            <a:ext cx="11568776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Loan Amount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5471" y="2164801"/>
            <a:ext cx="18148925" cy="7093499"/>
          </a:xfrm>
          <a:custGeom>
            <a:avLst/>
            <a:gdLst/>
            <a:ahLst/>
            <a:cxnLst/>
            <a:rect r="r" b="b" t="t" l="l"/>
            <a:pathLst>
              <a:path h="7093499" w="18148925">
                <a:moveTo>
                  <a:pt x="0" y="0"/>
                </a:moveTo>
                <a:lnTo>
                  <a:pt x="18148925" y="0"/>
                </a:lnTo>
                <a:lnTo>
                  <a:pt x="18148925" y="7093499"/>
                </a:lnTo>
                <a:lnTo>
                  <a:pt x="0" y="7093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813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3371" y="480060"/>
            <a:ext cx="11568776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Loan Grades &amp; Subgrades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132871"/>
            <a:ext cx="18288000" cy="7247349"/>
          </a:xfrm>
          <a:custGeom>
            <a:avLst/>
            <a:gdLst/>
            <a:ahLst/>
            <a:cxnLst/>
            <a:rect r="r" b="b" t="t" l="l"/>
            <a:pathLst>
              <a:path h="7247349" w="18288000">
                <a:moveTo>
                  <a:pt x="0" y="0"/>
                </a:moveTo>
                <a:lnTo>
                  <a:pt x="18288000" y="0"/>
                </a:lnTo>
                <a:lnTo>
                  <a:pt x="18288000" y="7247349"/>
                </a:lnTo>
                <a:lnTo>
                  <a:pt x="0" y="7247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49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480060"/>
            <a:ext cx="18288000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Term • Home Ownership • Verification • Purpose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211162"/>
            <a:ext cx="18288000" cy="7081428"/>
          </a:xfrm>
          <a:custGeom>
            <a:avLst/>
            <a:gdLst/>
            <a:ahLst/>
            <a:cxnLst/>
            <a:rect r="r" b="b" t="t" l="l"/>
            <a:pathLst>
              <a:path h="7081428" w="18288000">
                <a:moveTo>
                  <a:pt x="0" y="0"/>
                </a:moveTo>
                <a:lnTo>
                  <a:pt x="18288000" y="0"/>
                </a:lnTo>
                <a:lnTo>
                  <a:pt x="18288000" y="7081428"/>
                </a:lnTo>
                <a:lnTo>
                  <a:pt x="0" y="7081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182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480060"/>
            <a:ext cx="18288000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Term • Home Ownership • Verification • Purpose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294122"/>
            <a:ext cx="18288000" cy="6998468"/>
          </a:xfrm>
          <a:custGeom>
            <a:avLst/>
            <a:gdLst/>
            <a:ahLst/>
            <a:cxnLst/>
            <a:rect r="r" b="b" t="t" l="l"/>
            <a:pathLst>
              <a:path h="6998468" w="18288000">
                <a:moveTo>
                  <a:pt x="0" y="0"/>
                </a:moveTo>
                <a:lnTo>
                  <a:pt x="18288000" y="0"/>
                </a:lnTo>
                <a:lnTo>
                  <a:pt x="18288000" y="6998468"/>
                </a:lnTo>
                <a:lnTo>
                  <a:pt x="0" y="6998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571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480060"/>
            <a:ext cx="18288000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Term • Home Ownership • Verification • Purpose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155855"/>
            <a:ext cx="18288000" cy="7136735"/>
          </a:xfrm>
          <a:custGeom>
            <a:avLst/>
            <a:gdLst/>
            <a:ahLst/>
            <a:cxnLst/>
            <a:rect r="r" b="b" t="t" l="l"/>
            <a:pathLst>
              <a:path h="7136735" w="18288000">
                <a:moveTo>
                  <a:pt x="0" y="0"/>
                </a:moveTo>
                <a:lnTo>
                  <a:pt x="18288000" y="0"/>
                </a:lnTo>
                <a:lnTo>
                  <a:pt x="18288000" y="7136735"/>
                </a:lnTo>
                <a:lnTo>
                  <a:pt x="0" y="7136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74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480060"/>
            <a:ext cx="18288000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Term • Home Ownership • Verification • Purpose Analysis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29562" y="1881198"/>
            <a:ext cx="16828876" cy="7111345"/>
          </a:xfrm>
          <a:custGeom>
            <a:avLst/>
            <a:gdLst/>
            <a:ahLst/>
            <a:cxnLst/>
            <a:rect r="r" b="b" t="t" l="l"/>
            <a:pathLst>
              <a:path h="7111345" w="16828876">
                <a:moveTo>
                  <a:pt x="0" y="0"/>
                </a:moveTo>
                <a:lnTo>
                  <a:pt x="16828876" y="0"/>
                </a:lnTo>
                <a:lnTo>
                  <a:pt x="16828876" y="7111344"/>
                </a:lnTo>
                <a:lnTo>
                  <a:pt x="0" y="7111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41" t="0" r="-822" b="-1270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3371" y="480060"/>
            <a:ext cx="11568776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Loan Amount &amp; Installment Analysis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55495" cy="1271977"/>
            <a:chOff x="0" y="0"/>
            <a:chExt cx="4887044" cy="335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7044" cy="335006"/>
            </a:xfrm>
            <a:custGeom>
              <a:avLst/>
              <a:gdLst/>
              <a:ahLst/>
              <a:cxnLst/>
              <a:rect r="r" b="b" t="t" l="l"/>
              <a:pathLst>
                <a:path h="335006" w="4887044">
                  <a:moveTo>
                    <a:pt x="0" y="0"/>
                  </a:moveTo>
                  <a:lnTo>
                    <a:pt x="4887044" y="0"/>
                  </a:lnTo>
                  <a:lnTo>
                    <a:pt x="4887044" y="335006"/>
                  </a:lnTo>
                  <a:lnTo>
                    <a:pt x="0" y="3350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87044" cy="33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29562" y="1881198"/>
            <a:ext cx="16828876" cy="7111345"/>
          </a:xfrm>
          <a:custGeom>
            <a:avLst/>
            <a:gdLst/>
            <a:ahLst/>
            <a:cxnLst/>
            <a:rect r="r" b="b" t="t" l="l"/>
            <a:pathLst>
              <a:path h="7111345" w="16828876">
                <a:moveTo>
                  <a:pt x="0" y="0"/>
                </a:moveTo>
                <a:lnTo>
                  <a:pt x="16828876" y="0"/>
                </a:lnTo>
                <a:lnTo>
                  <a:pt x="16828876" y="7111344"/>
                </a:lnTo>
                <a:lnTo>
                  <a:pt x="0" y="7111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41" t="0" r="-822" b="-1270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3371" y="480060"/>
            <a:ext cx="11568776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Loan Amount &amp; Installment Analysis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2196994"/>
            <a:ext cx="11493549" cy="151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8"/>
              </a:lnSpc>
            </a:pPr>
            <a:r>
              <a:rPr lang="en-US" sz="892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42302" y="9258300"/>
            <a:ext cx="7003396" cy="910109"/>
            <a:chOff x="0" y="0"/>
            <a:chExt cx="9337861" cy="12134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059510" y="0"/>
              <a:ext cx="3278351" cy="1213479"/>
            </a:xfrm>
            <a:custGeom>
              <a:avLst/>
              <a:gdLst/>
              <a:ahLst/>
              <a:cxnLst/>
              <a:rect r="r" b="b" t="t" l="l"/>
              <a:pathLst>
                <a:path h="1213479" w="3278351">
                  <a:moveTo>
                    <a:pt x="0" y="0"/>
                  </a:moveTo>
                  <a:lnTo>
                    <a:pt x="3278351" y="0"/>
                  </a:lnTo>
                  <a:lnTo>
                    <a:pt x="3278351" y="1213479"/>
                  </a:lnTo>
                  <a:lnTo>
                    <a:pt x="0" y="1213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09089"/>
              <a:ext cx="638363" cy="995301"/>
            </a:xfrm>
            <a:custGeom>
              <a:avLst/>
              <a:gdLst/>
              <a:ahLst/>
              <a:cxnLst/>
              <a:rect r="r" b="b" t="t" l="l"/>
              <a:pathLst>
                <a:path h="995301" w="638363">
                  <a:moveTo>
                    <a:pt x="0" y="0"/>
                  </a:moveTo>
                  <a:lnTo>
                    <a:pt x="638363" y="0"/>
                  </a:lnTo>
                  <a:lnTo>
                    <a:pt x="638363" y="995301"/>
                  </a:lnTo>
                  <a:lnTo>
                    <a:pt x="0" y="995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4867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8363" y="27298"/>
              <a:ext cx="2638205" cy="1158884"/>
            </a:xfrm>
            <a:custGeom>
              <a:avLst/>
              <a:gdLst/>
              <a:ahLst/>
              <a:cxnLst/>
              <a:rect r="r" b="b" t="t" l="l"/>
              <a:pathLst>
                <a:path h="1158884" w="2638205">
                  <a:moveTo>
                    <a:pt x="0" y="0"/>
                  </a:moveTo>
                  <a:lnTo>
                    <a:pt x="2638206" y="0"/>
                  </a:lnTo>
                  <a:lnTo>
                    <a:pt x="2638206" y="1158884"/>
                  </a:lnTo>
                  <a:lnTo>
                    <a:pt x="0" y="11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408" t="0" r="0" b="0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DAG6R1pxtiM</dc:identifier>
  <dcterms:modified xsi:type="dcterms:W3CDTF">2011-08-01T06:04:30Z</dcterms:modified>
  <cp:revision>1</cp:revision>
  <dc:title>Loan Data Analysis</dc:title>
</cp:coreProperties>
</file>